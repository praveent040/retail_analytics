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52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RETAIL ANALY</a:t>
            </a:r>
            <a:r>
              <a:rPr lang="en-US" sz="4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</a:t>
            </a:r>
            <a:r>
              <a:rPr lang="en-US" sz="3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Multi-tool analytics pipeline across Excel, SQL, Python, and Power BI.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560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 1 · Excel</a:t>
            </a:r>
            <a:endParaRPr lang="en-US" sz="1050" dirty="0"/>
          </a:p>
        </p:txBody>
      </p:sp>
      <p:pic>
        <p:nvPicPr>
          <p:cNvPr id="6" name="Image 0" descr="/home/claude/ic_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60904"/>
            <a:ext cx="164592" cy="1645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606040" y="25603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98648" y="2560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 2 · SQL</a:t>
            </a:r>
            <a:endParaRPr lang="en-US" sz="1050" dirty="0"/>
          </a:p>
        </p:txBody>
      </p:sp>
      <p:pic>
        <p:nvPicPr>
          <p:cNvPr id="9" name="Image 1" descr="/home/claude/ic_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660904"/>
            <a:ext cx="164592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0" y="25603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864608" y="2560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 3 · Python</a:t>
            </a:r>
            <a:endParaRPr lang="en-US" sz="1050" dirty="0"/>
          </a:p>
        </p:txBody>
      </p:sp>
      <p:pic>
        <p:nvPicPr>
          <p:cNvPr id="12" name="Image 2" descr="/home/claude/ic_pyth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660904"/>
            <a:ext cx="164592" cy="16459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537960" y="25603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830568" y="2560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 4 · Power BI</a:t>
            </a:r>
            <a:endParaRPr lang="en-US" sz="1050" dirty="0"/>
          </a:p>
        </p:txBody>
      </p:sp>
      <p:pic>
        <p:nvPicPr>
          <p:cNvPr id="15" name="Image 3" descr="/home/claude/ic_powerb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2660904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4008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</a:rPr>
              <a:t>PRAVEEN T</a:t>
            </a:r>
          </a:p>
        </p:txBody>
      </p:sp>
      <p:sp>
        <p:nvSpPr>
          <p:cNvPr id="17" name="Text 11"/>
          <p:cNvSpPr txBox="1"/>
          <p:nvPr/>
        </p:nvSpPr>
        <p:spPr>
          <a:xfrm>
            <a:off x="64008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Vinsup Skill Academy  |  Final Project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About This Project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four-phase pipeline — each tool hands clean work to the next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6" name="Image 0" descr="/home/claude/ic_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7647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774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Excel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0175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cleaning, validation, and pivot analysis across 9 linked sheets.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60320" y="146304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0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2" name="Image 1" descr="/home/claude/ic_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072" y="176479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43200" y="23774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274320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SQL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2743200" y="30175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Relational schema design, multi-table joins, aggregations, and business logic.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63440" y="146304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46320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8" name="Image 2" descr="/home/claude/ic_pyth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176479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46320" y="23774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 3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Python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4846320" y="30175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EDA, visualization, and RFM-based customer segmentation.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766560" y="146304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949440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Image 3" descr="/home/claude/ic_powerb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12" y="1764792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49440" y="23774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 4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694944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Power BI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6949440" y="30175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4-page interactive dashboard with KPIs, slicers, and store mapping.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Retail Analysis  |  About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83080" cy="23774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2926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OVERVIEW</a:t>
            </a:r>
            <a:endParaRPr lang="en-US" sz="900" dirty="0"/>
          </a:p>
        </p:txBody>
      </p:sp>
      <p:pic>
        <p:nvPicPr>
          <p:cNvPr id="4" name="Image 0" descr="/home/claude/ic_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8328"/>
            <a:ext cx="146304" cy="1463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035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Raw transactions to executive insight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0116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/>
              <a:t>In a competitive retail market, businesses need to track sales performance, understand customer behavior, and identify growth opportunities. This project aims to build an </a:t>
            </a:r>
            <a:r>
              <a:rPr lang="en-US" sz="1050" b="1" dirty="0"/>
              <a:t>end-to-end analytics solution</a:t>
            </a:r>
            <a:r>
              <a:rPr lang="en-US" sz="1050" dirty="0"/>
              <a:t> that enables insights generation from raw transactional data using a multi-tool approach.</a:t>
            </a:r>
          </a:p>
        </p:txBody>
      </p:sp>
      <p:sp>
        <p:nvSpPr>
          <p:cNvPr id="10" name="Shape 7"/>
          <p:cNvSpPr/>
          <p:nvPr/>
        </p:nvSpPr>
        <p:spPr>
          <a:xfrm>
            <a:off x="457200" y="31089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Domain Scope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Retail Bicycle Chain operating across NY, CA, and TX.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15544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Use Cases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21488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Store &amp; staff revenue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RFM customer segmentation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Inventory stock alerts (&lt;10 units)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Executive dashboarding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Retail Analysis |  Overview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83080" cy="23774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2926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DATASET</a:t>
            </a:r>
            <a:endParaRPr lang="en-US" sz="900" dirty="0"/>
          </a:p>
        </p:txBody>
      </p:sp>
      <p:pic>
        <p:nvPicPr>
          <p:cNvPr id="4" name="Image 0" descr="/home/claude/ic_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8328"/>
            <a:ext cx="146304" cy="1463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035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Dataset at a Glance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Nine linked tables, verified across the pipeline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6184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1,445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0756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121408" y="15087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21408" y="16184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1,615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2121408" y="20756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Orders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785616" y="15087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785616" y="16184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4,722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3785616" y="20756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Order Items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49824" y="15087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49824" y="16184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321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5449824" y="20756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14032" y="15087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14032" y="16184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/ 10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7114032" y="20756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Stores / Staff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260604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Customers by State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3154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097280" y="3154680"/>
            <a:ext cx="3291840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8056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1019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3566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097280" y="3566160"/>
            <a:ext cx="917451" cy="27432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106171" y="3566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284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TX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097280" y="3977640"/>
            <a:ext cx="458725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647445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577840" y="260604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76072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Also in the schema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5760720" y="31546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 Brands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 Categories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939 Stock records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Retail Analysis |  Dataset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83080" cy="23774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2926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 1 · EXCEL</a:t>
            </a:r>
            <a:endParaRPr lang="en-US" sz="900" dirty="0"/>
          </a:p>
        </p:txBody>
      </p:sp>
      <p:pic>
        <p:nvPicPr>
          <p:cNvPr id="4" name="Image 0" descr="/home/claude/ic_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8328"/>
            <a:ext cx="146304" cy="1463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035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Cleaning &amp; Preparation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Turning raw exports into a validated dataset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1554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Header standardization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04825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04825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Deduplication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254203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25420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Missing values handled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30358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0358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Date &amp; numeric types fixed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352958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3529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Derived total_price formula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754880" y="155448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93776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Sales by Category 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937760" y="2103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4400" b="1" dirty="0">
                <a:solidFill>
                  <a:srgbClr val="00B050"/>
                </a:solidFill>
              </a:rPr>
              <a:t>₹</a:t>
            </a:r>
            <a:r>
              <a:rPr lang="en-US" sz="4400" b="1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8.58M</a:t>
            </a:r>
            <a:endParaRPr lang="en-US" sz="4400" dirty="0"/>
          </a:p>
        </p:txBody>
      </p:sp>
      <p:sp>
        <p:nvSpPr>
          <p:cNvPr id="28" name="Text 25"/>
          <p:cNvSpPr txBox="1"/>
          <p:nvPr/>
        </p:nvSpPr>
        <p:spPr>
          <a:xfrm>
            <a:off x="493776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937760" y="329184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12064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Mountain Bikes lead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12064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400" dirty="0"/>
              <a:t>₹</a:t>
            </a:r>
            <a:r>
              <a:rPr lang="en-US" sz="2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3.03M</a:t>
            </a:r>
            <a:endParaRPr lang="en-US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Retail Analysis |  Phase 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83080" cy="23774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2926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 2 · SQL</a:t>
            </a:r>
            <a:endParaRPr lang="en-US" sz="900" dirty="0"/>
          </a:p>
        </p:txBody>
      </p:sp>
      <p:pic>
        <p:nvPicPr>
          <p:cNvPr id="4" name="Image 0" descr="/home/claude/ic_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8328"/>
            <a:ext cx="146304" cy="1463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035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Database Design &amp; Setup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Initializing the schema and importing 9 linked tables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2062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Cleaned CSVs imported as relational tables, linked via primary and foreign keys.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554480"/>
            <a:ext cx="1252728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1554480"/>
            <a:ext cx="1252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07608" y="1554480"/>
            <a:ext cx="1252728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07608" y="1554480"/>
            <a:ext cx="1252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351776" y="1554480"/>
            <a:ext cx="1252728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51776" y="1554480"/>
            <a:ext cx="1252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order_items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63440" y="2514600"/>
            <a:ext cx="1252728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63440" y="2514600"/>
            <a:ext cx="1252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007608" y="2514600"/>
            <a:ext cx="1252728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007608" y="2514600"/>
            <a:ext cx="1252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stocks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351776" y="2514600"/>
            <a:ext cx="1252728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51776" y="2514600"/>
            <a:ext cx="1252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663440" y="3474720"/>
            <a:ext cx="1252728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63440" y="3474720"/>
            <a:ext cx="1252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staffs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007608" y="3474720"/>
            <a:ext cx="1252728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007608" y="3474720"/>
            <a:ext cx="1252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351776" y="3474720"/>
            <a:ext cx="1252728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51776" y="3474720"/>
            <a:ext cx="1252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categories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Retail Analysis |  Phase 2</a:t>
            </a:r>
            <a:endParaRPr lang="en-US" sz="800" dirty="0"/>
          </a:p>
        </p:txBody>
      </p:sp>
      <p:pic>
        <p:nvPicPr>
          <p:cNvPr id="29" name="Picture 28" descr="SHOW TABLES output listing the 9 tables in retail_sales_analytic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54480"/>
            <a:ext cx="3008376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83080" cy="23774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2926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 2 · SQL</a:t>
            </a:r>
            <a:endParaRPr lang="en-US" sz="900" dirty="0"/>
          </a:p>
        </p:txBody>
      </p:sp>
      <p:pic>
        <p:nvPicPr>
          <p:cNvPr id="4" name="Image 0" descr="/home/claude/ic_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8328"/>
            <a:ext cx="146304" cy="1463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035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Querying for Business Insight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Joins, aggregation, and conditional segmentation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08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Multi-table INNER JOIN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1508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Spending Segments (CASE WHEN)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Sample rows shown — Low · Medium · High segments from the spending thresholds.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Retail Analysis |  Phase 2</a:t>
            </a:r>
            <a:endParaRPr lang="en-US" sz="800" dirty="0"/>
          </a:p>
        </p:txBody>
      </p:sp>
      <p:pic>
        <p:nvPicPr>
          <p:cNvPr id="15" name="Picture 14" descr="Result grid of the multi-table INNER JO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28800"/>
            <a:ext cx="4023360" cy="2395728"/>
          </a:xfrm>
          <a:prstGeom prst="rect">
            <a:avLst/>
          </a:prstGeom>
        </p:spPr>
      </p:pic>
      <p:pic>
        <p:nvPicPr>
          <p:cNvPr id="16" name="Picture 15" descr="Result grid of the CASE WHEN spending segmen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828800"/>
            <a:ext cx="402336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83080" cy="23774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2926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 2 · SQL</a:t>
            </a:r>
            <a:endParaRPr lang="en-US" sz="900" dirty="0"/>
          </a:p>
        </p:txBody>
      </p:sp>
      <p:pic>
        <p:nvPicPr>
          <p:cNvPr id="4" name="Image 0" descr="/home/claude/ic_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8328"/>
            <a:ext cx="146304" cy="1463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035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Operational Queries &amp; ML Handoff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Staff performance, stock alerts, and the Python export table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Staff Revenue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01168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Aggregates revenue per staff member by joining orders, order_items, and staffs — GROUP BY staff, ordered by total.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55448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2900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Low Stock Alerts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201168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Flags products where stock quantity is below 10 units so stores can reorder before they run out.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35040" y="155448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customer_segments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3474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Empty table created in Phase 2; Python writes the RFM results into it.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Retail Analysis |  Phase 2</a:t>
            </a:r>
            <a:endParaRPr lang="en-US" sz="800" dirty="0"/>
          </a:p>
        </p:txBody>
      </p:sp>
      <p:pic>
        <p:nvPicPr>
          <p:cNvPr id="19" name="Picture 18" descr="Staff revenue result gr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88920"/>
            <a:ext cx="2011680" cy="1609344"/>
          </a:xfrm>
          <a:prstGeom prst="rect">
            <a:avLst/>
          </a:prstGeom>
        </p:spPr>
      </p:pic>
      <p:pic>
        <p:nvPicPr>
          <p:cNvPr id="20" name="Picture 19" descr="Low stock alerts result gri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788920"/>
            <a:ext cx="2011680" cy="1609344"/>
          </a:xfrm>
          <a:prstGeom prst="rect">
            <a:avLst/>
          </a:prstGeom>
        </p:spPr>
      </p:pic>
      <p:pic>
        <p:nvPicPr>
          <p:cNvPr id="21" name="Picture 20" descr="DESCRIBE customer_segments outpu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103120"/>
            <a:ext cx="2286000" cy="11704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83080" cy="23774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2926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 3 · PYTHON</a:t>
            </a:r>
            <a:endParaRPr lang="en-US" sz="900" dirty="0"/>
          </a:p>
        </p:txBody>
      </p:sp>
      <p:pic>
        <p:nvPicPr>
          <p:cNvPr id="4" name="Image 0" descr="/home/claude/ic_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8328"/>
            <a:ext cx="146304" cy="1463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035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Ingestion &amp; Exploratory Data Analysis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SQLAlchemy + Pandas on all 9 tables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Retail Analysis |  Phase 3</a:t>
            </a:r>
            <a:endParaRPr lang="en-US" sz="800" dirty="0"/>
          </a:p>
        </p:txBody>
      </p:sp>
      <p:pic>
        <p:nvPicPr>
          <p:cNvPr id="23" name="Picture 22" descr="EDA charts: orders by store, order status counts, customers by sta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54480"/>
            <a:ext cx="82296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83080" cy="23774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2926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 3 · PYTHON</a:t>
            </a:r>
            <a:endParaRPr lang="en-US" sz="900" dirty="0"/>
          </a:p>
        </p:txBody>
      </p:sp>
      <p:pic>
        <p:nvPicPr>
          <p:cNvPr id="4" name="Image 0" descr="/home/claude/ic_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8328"/>
            <a:ext cx="146304" cy="1463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035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RFM Analysis &amp; Segmentation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Recency, Frequency, Monetary — scored per customer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3474720" cy="822960"/>
          </a:xfrm>
          <a:prstGeom prst="roundRect">
            <a:avLst>
              <a:gd name="adj" fmla="val 8889"/>
            </a:avLst>
          </a:prstGeom>
          <a:solidFill>
            <a:schemeClr val="accent4">
              <a:lumMod val="75000"/>
            </a:schemeClr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Recency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" y="1993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Days since last order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532888"/>
            <a:ext cx="3474720" cy="822960"/>
          </a:xfrm>
          <a:prstGeom prst="roundRect">
            <a:avLst>
              <a:gd name="adj" fmla="val 8889"/>
            </a:avLst>
          </a:prstGeom>
          <a:solidFill>
            <a:schemeClr val="accent4">
              <a:lumMod val="75000"/>
            </a:schemeClr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642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Frequency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40080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Distinct orders placed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511296"/>
            <a:ext cx="3474720" cy="822960"/>
          </a:xfrm>
          <a:prstGeom prst="roundRect">
            <a:avLst>
              <a:gd name="adj" fmla="val 8889"/>
            </a:avLst>
          </a:prstGeom>
          <a:solidFill>
            <a:schemeClr val="accent4">
              <a:lumMod val="75000"/>
            </a:schemeClr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621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Monetary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640080" y="3950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 spend per customer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Retail Analysis |  Phase 3</a:t>
            </a:r>
            <a:endParaRPr lang="en-US" sz="8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8670C7E-5DFC-E5C9-7E51-C0EEE29D2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102" y="1554479"/>
            <a:ext cx="4509298" cy="27301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83080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2926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 4 · POWER BI</a:t>
            </a:r>
            <a:endParaRPr lang="en-US" sz="900" dirty="0"/>
          </a:p>
        </p:txBody>
      </p:sp>
      <p:pic>
        <p:nvPicPr>
          <p:cNvPr id="4" name="Image 0" descr="/home/claude/ic_power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8328"/>
            <a:ext cx="146304" cy="1463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035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Dashboard Overview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consolidated view of the whole business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₹ </a:t>
            </a:r>
            <a:r>
              <a:rPr lang="en-US" sz="2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8.58M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075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9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60320" y="15087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6032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1,615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2560320" y="2075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9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15087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6344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1,445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2075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9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Active Customers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766560" y="15087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6656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₹ </a:t>
            </a:r>
            <a:r>
              <a:rPr lang="en-US" sz="2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5.31K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0" y="2075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9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AOV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26974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Monthly Sales Trend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31546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Sales trend by month, with the 2018 peak.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64408" y="26974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47288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Customer RFM Donut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3447288" y="31546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Customer segments at a glance.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071616" y="26974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54496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Store Map &amp; Staff Revenue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254496" y="31546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Store locations mapped, with revenue by staff.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Retail Analysis |  Phase 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83080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2926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 4 · POWER BI</a:t>
            </a:r>
            <a:endParaRPr lang="en-US" sz="900" dirty="0"/>
          </a:p>
        </p:txBody>
      </p:sp>
      <p:pic>
        <p:nvPicPr>
          <p:cNvPr id="4" name="Image 0" descr="/home/claude/ic_power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8328"/>
            <a:ext cx="146304" cy="1463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035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Sales Analysis &amp; Drill-Down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Page 4 of the dashboard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Page 4 Visuals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1488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Category columns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Top 5 models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Monthly trend lines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Slicers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Bookmark navigators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15544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Why four Pages?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2039112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200" b="1" dirty="0">
                <a:solidFill>
                  <a:srgbClr val="7030A0"/>
                </a:solidFill>
              </a:rPr>
              <a:t>Retail Sales Analytics:</a:t>
            </a:r>
            <a:r>
              <a:rPr lang="en-IN" sz="1200" dirty="0">
                <a:solidFill>
                  <a:srgbClr val="7030A0"/>
                </a:solidFill>
              </a:rPr>
              <a:t> </a:t>
            </a:r>
            <a:r>
              <a:rPr lang="en-IN" sz="1200" dirty="0">
                <a:solidFill>
                  <a:schemeClr val="bg1"/>
                </a:solidFill>
              </a:rPr>
              <a:t>Gives an overall view of the business using KPIs, store revenue, product quantity, and sales by location.</a:t>
            </a:r>
            <a:endParaRPr lang="en-IN" sz="1200" b="1" dirty="0">
              <a:solidFill>
                <a:srgbClr val="7030A0"/>
              </a:solidFill>
            </a:endParaRPr>
          </a:p>
          <a:p>
            <a:pPr lvl="0"/>
            <a:r>
              <a:rPr lang="en-IN" sz="1200" b="1" dirty="0">
                <a:solidFill>
                  <a:srgbClr val="7030A0"/>
                </a:solidFill>
              </a:rPr>
              <a:t>Sales Overview:</a:t>
            </a:r>
            <a:r>
              <a:rPr lang="en-IN" sz="1200" dirty="0">
                <a:solidFill>
                  <a:srgbClr val="7030A0"/>
                </a:solidFill>
              </a:rPr>
              <a:t> </a:t>
            </a:r>
            <a:r>
              <a:rPr lang="en-IN" sz="1200" dirty="0">
                <a:solidFill>
                  <a:schemeClr val="bg1"/>
                </a:solidFill>
              </a:rPr>
              <a:t>Shows total revenue, customers, orders, average order value, top brands</a:t>
            </a:r>
            <a:r>
              <a:rPr lang="en-IN" sz="1200" b="1" dirty="0">
                <a:solidFill>
                  <a:schemeClr val="bg1"/>
                </a:solidFill>
              </a:rPr>
              <a:t>:</a:t>
            </a:r>
            <a:r>
              <a:rPr lang="en-IN" sz="1200" dirty="0">
                <a:solidFill>
                  <a:schemeClr val="bg1"/>
                </a:solidFill>
              </a:rPr>
              <a:t> /products, and monthly sales. </a:t>
            </a:r>
          </a:p>
          <a:p>
            <a:pPr lvl="0"/>
            <a:r>
              <a:rPr lang="en-IN" sz="1200" b="1" dirty="0">
                <a:solidFill>
                  <a:srgbClr val="7030A0"/>
                </a:solidFill>
              </a:rPr>
              <a:t>Customer Segmentation: </a:t>
            </a:r>
            <a:r>
              <a:rPr lang="en-IN" sz="1200" dirty="0">
                <a:solidFill>
                  <a:schemeClr val="bg1"/>
                </a:solidFill>
              </a:rPr>
              <a:t>Shows different customer segments, their revenue, customer count, and performance by city and brand. </a:t>
            </a:r>
          </a:p>
          <a:p>
            <a:pPr lvl="0"/>
            <a:r>
              <a:rPr lang="en-IN" sz="1200" b="1" dirty="0">
                <a:solidFill>
                  <a:srgbClr val="7030A0"/>
                </a:solidFill>
              </a:rPr>
              <a:t>Staff Performance:</a:t>
            </a:r>
            <a:r>
              <a:rPr lang="en-IN" sz="1200" dirty="0">
                <a:solidFill>
                  <a:srgbClr val="7030A0"/>
                </a:solidFill>
              </a:rPr>
              <a:t> </a:t>
            </a:r>
            <a:r>
              <a:rPr lang="en-IN" sz="1200" dirty="0">
                <a:solidFill>
                  <a:schemeClr val="bg1"/>
                </a:solidFill>
              </a:rPr>
              <a:t>Shows each staff member’s profit and revenue, along with store-wise sales and product quantities. </a:t>
            </a:r>
          </a:p>
        </p:txBody>
      </p:sp>
      <p:sp>
        <p:nvSpPr>
          <p:cNvPr id="13" name="Text 10"/>
          <p:cNvSpPr txBox="1"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Retail Analysis |  Phase 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Strategic findings from the pipeline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Retail Analysis |  Insights</a:t>
            </a:r>
            <a:endParaRPr lang="en-US" sz="8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83984CB4-DD6F-159C-6887-16E1D8C75C54}"/>
              </a:ext>
            </a:extLst>
          </p:cNvPr>
          <p:cNvSpPr/>
          <p:nvPr/>
        </p:nvSpPr>
        <p:spPr>
          <a:xfrm>
            <a:off x="457200" y="1417320"/>
            <a:ext cx="8229600" cy="96012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DB236640-5321-EA51-9F53-6B1478E39923}"/>
              </a:ext>
            </a:extLst>
          </p:cNvPr>
          <p:cNvSpPr/>
          <p:nvPr/>
        </p:nvSpPr>
        <p:spPr>
          <a:xfrm>
            <a:off x="831668" y="15773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8445F00B-93EC-2A53-52B1-F147886A08DD}"/>
              </a:ext>
            </a:extLst>
          </p:cNvPr>
          <p:cNvSpPr txBox="1"/>
          <p:nvPr/>
        </p:nvSpPr>
        <p:spPr>
          <a:xfrm>
            <a:off x="831668" y="15773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94EA0546-E27F-61AF-FB36-53F581A267C8}"/>
              </a:ext>
            </a:extLst>
          </p:cNvPr>
          <p:cNvSpPr txBox="1"/>
          <p:nvPr/>
        </p:nvSpPr>
        <p:spPr>
          <a:xfrm>
            <a:off x="173736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Mountain Bikes Lead Revenue</a:t>
            </a:r>
            <a:endParaRPr lang="en-US" sz="130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DE5E5EEE-6284-15AF-3274-1862787DC5F2}"/>
              </a:ext>
            </a:extLst>
          </p:cNvPr>
          <p:cNvSpPr txBox="1"/>
          <p:nvPr/>
        </p:nvSpPr>
        <p:spPr>
          <a:xfrm>
            <a:off x="1737360" y="19476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₹3.03M — roughly double other categories.</a:t>
            </a:r>
            <a:endParaRPr lang="en-US" sz="1100" dirty="0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FE7A7D33-7E66-A27B-362E-7FC7E41048A0}"/>
              </a:ext>
            </a:extLst>
          </p:cNvPr>
          <p:cNvSpPr/>
          <p:nvPr/>
        </p:nvSpPr>
        <p:spPr>
          <a:xfrm>
            <a:off x="457200" y="2514600"/>
            <a:ext cx="8229600" cy="96012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FBF496D9-107B-F722-1F88-330AF18789E4}"/>
              </a:ext>
            </a:extLst>
          </p:cNvPr>
          <p:cNvSpPr txBox="1"/>
          <p:nvPr/>
        </p:nvSpPr>
        <p:spPr>
          <a:xfrm>
            <a:off x="1737360" y="2697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Store 2 Volume Dominance</a:t>
            </a:r>
            <a:endParaRPr lang="en-US" sz="13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A3990BB0-17C8-1989-81EB-C3C69DEFA2C6}"/>
              </a:ext>
            </a:extLst>
          </p:cNvPr>
          <p:cNvSpPr txBox="1"/>
          <p:nvPr/>
        </p:nvSpPr>
        <p:spPr>
          <a:xfrm>
            <a:off x="1737360" y="304495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68% of all orders.</a:t>
            </a:r>
            <a:endParaRPr lang="en-US" sz="1100" dirty="0"/>
          </a:p>
        </p:txBody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237E84E4-1363-058A-C6F0-8C4A7D7EA7B5}"/>
              </a:ext>
            </a:extLst>
          </p:cNvPr>
          <p:cNvSpPr/>
          <p:nvPr/>
        </p:nvSpPr>
        <p:spPr>
          <a:xfrm>
            <a:off x="831668" y="26746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1C151A7B-5116-3FB4-57D3-B512D06E218D}"/>
              </a:ext>
            </a:extLst>
          </p:cNvPr>
          <p:cNvSpPr txBox="1"/>
          <p:nvPr/>
        </p:nvSpPr>
        <p:spPr>
          <a:xfrm>
            <a:off x="831668" y="2679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2200" dirty="0"/>
          </a:p>
        </p:txBody>
      </p:sp>
      <p:sp>
        <p:nvSpPr>
          <p:cNvPr id="48" name="Shape 12">
            <a:extLst>
              <a:ext uri="{FF2B5EF4-FFF2-40B4-BE49-F238E27FC236}">
                <a16:creationId xmlns:a16="http://schemas.microsoft.com/office/drawing/2014/main" id="{2B6AC37F-B228-64F2-7359-660DDC3146F9}"/>
              </a:ext>
            </a:extLst>
          </p:cNvPr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4459D98D-E17E-901A-A7CE-C1968020A5DE}"/>
              </a:ext>
            </a:extLst>
          </p:cNvPr>
          <p:cNvSpPr txBox="1"/>
          <p:nvPr/>
        </p:nvSpPr>
        <p:spPr>
          <a:xfrm>
            <a:off x="1737360" y="37947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New York Customer Concentration</a:t>
            </a:r>
            <a:endParaRPr lang="en-US" sz="1300" dirty="0"/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02007A4D-E47A-92D7-04D6-A9FB87D05203}"/>
              </a:ext>
            </a:extLst>
          </p:cNvPr>
          <p:cNvSpPr txBox="1"/>
          <p:nvPr/>
        </p:nvSpPr>
        <p:spPr>
          <a:xfrm>
            <a:off x="1737360" y="41422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70% of the customer base.</a:t>
            </a:r>
            <a:endParaRPr lang="en-US" sz="1100" dirty="0"/>
          </a:p>
        </p:txBody>
      </p:sp>
      <p:sp>
        <p:nvSpPr>
          <p:cNvPr id="54" name="Shape 13">
            <a:extLst>
              <a:ext uri="{FF2B5EF4-FFF2-40B4-BE49-F238E27FC236}">
                <a16:creationId xmlns:a16="http://schemas.microsoft.com/office/drawing/2014/main" id="{3BB57FAD-6352-E5DF-068F-24F1DAB6B5BB}"/>
              </a:ext>
            </a:extLst>
          </p:cNvPr>
          <p:cNvSpPr/>
          <p:nvPr/>
        </p:nvSpPr>
        <p:spPr>
          <a:xfrm>
            <a:off x="831668" y="37719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14">
            <a:extLst>
              <a:ext uri="{FF2B5EF4-FFF2-40B4-BE49-F238E27FC236}">
                <a16:creationId xmlns:a16="http://schemas.microsoft.com/office/drawing/2014/main" id="{2776D9DC-4A59-3CD0-B9EE-9C0DC82E66CA}"/>
              </a:ext>
            </a:extLst>
          </p:cNvPr>
          <p:cNvSpPr txBox="1"/>
          <p:nvPr/>
        </p:nvSpPr>
        <p:spPr>
          <a:xfrm>
            <a:off x="831668" y="380521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Suggestions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Recommended actions based on the findings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Retail Analysis |  Suggestions</a:t>
            </a:r>
            <a:endParaRPr lang="en-US" sz="8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83984CB4-DD6F-159C-6887-16E1D8C75C54}"/>
              </a:ext>
            </a:extLst>
          </p:cNvPr>
          <p:cNvSpPr/>
          <p:nvPr/>
        </p:nvSpPr>
        <p:spPr>
          <a:xfrm>
            <a:off x="457200" y="1417320"/>
            <a:ext cx="8229600" cy="5600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DB236640-5321-EA51-9F53-6B1478E39923}"/>
              </a:ext>
            </a:extLst>
          </p:cNvPr>
          <p:cNvSpPr/>
          <p:nvPr/>
        </p:nvSpPr>
        <p:spPr>
          <a:xfrm>
            <a:off x="831668" y="1485320"/>
            <a:ext cx="440000" cy="440000"/>
          </a:xfrm>
          <a:prstGeom prst="roundRect">
            <a:avLst>
              <a:gd name="adj" fmla="val 114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8445F00B-93EC-2A53-52B1-F147886A08DD}"/>
              </a:ext>
            </a:extLst>
          </p:cNvPr>
          <p:cNvSpPr txBox="1"/>
          <p:nvPr/>
        </p:nvSpPr>
        <p:spPr>
          <a:xfrm>
            <a:off x="831668" y="1485320"/>
            <a:ext cx="44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94EA0546-E27F-61AF-FB36-53F581A267C8}"/>
              </a:ext>
            </a:extLst>
          </p:cNvPr>
          <p:cNvSpPr txBox="1"/>
          <p:nvPr/>
        </p:nvSpPr>
        <p:spPr>
          <a:xfrm>
            <a:off x="1737360" y="1462320"/>
            <a:ext cx="67665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Grow Beyond Mountain Bikes</a:t>
            </a:r>
            <a:endParaRPr lang="en-US" sz="130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DE5E5EEE-6284-15AF-3274-1862787DC5F2}"/>
              </a:ext>
            </a:extLst>
          </p:cNvPr>
          <p:cNvSpPr txBox="1"/>
          <p:nvPr/>
        </p:nvSpPr>
        <p:spPr>
          <a:xfrm>
            <a:off x="1737360" y="1722320"/>
            <a:ext cx="676656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Bundle accessories and promote the other categories.</a:t>
            </a:r>
            <a:endParaRPr lang="en-US" sz="1100" dirty="0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FE7A7D33-7E66-A27B-362E-7FC7E41048A0}"/>
              </a:ext>
            </a:extLst>
          </p:cNvPr>
          <p:cNvSpPr/>
          <p:nvPr/>
        </p:nvSpPr>
        <p:spPr>
          <a:xfrm>
            <a:off x="457200" y="2067320"/>
            <a:ext cx="8229600" cy="5600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FBF496D9-107B-F722-1F88-330AF18789E4}"/>
              </a:ext>
            </a:extLst>
          </p:cNvPr>
          <p:cNvSpPr txBox="1"/>
          <p:nvPr/>
        </p:nvSpPr>
        <p:spPr>
          <a:xfrm>
            <a:off x="1737360" y="2112320"/>
            <a:ext cx="67665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Balance Store Performance</a:t>
            </a:r>
            <a:endParaRPr lang="en-US" sz="13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A3990BB0-17C8-1989-81EB-C3C69DEFA2C6}"/>
              </a:ext>
            </a:extLst>
          </p:cNvPr>
          <p:cNvSpPr txBox="1"/>
          <p:nvPr/>
        </p:nvSpPr>
        <p:spPr>
          <a:xfrm>
            <a:off x="1737360" y="2372320"/>
            <a:ext cx="676656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Lift Stores 1 &amp; 3; keep Store 2 well stocked.</a:t>
            </a:r>
            <a:endParaRPr lang="en-US" sz="1100" dirty="0"/>
          </a:p>
        </p:txBody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237E84E4-1363-058A-C6F0-8C4A7D7EA7B5}"/>
              </a:ext>
            </a:extLst>
          </p:cNvPr>
          <p:cNvSpPr/>
          <p:nvPr/>
        </p:nvSpPr>
        <p:spPr>
          <a:xfrm>
            <a:off x="831668" y="2135320"/>
            <a:ext cx="440000" cy="44000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1C151A7B-5116-3FB4-57D3-B512D06E218D}"/>
              </a:ext>
            </a:extLst>
          </p:cNvPr>
          <p:cNvSpPr txBox="1"/>
          <p:nvPr/>
        </p:nvSpPr>
        <p:spPr>
          <a:xfrm>
            <a:off x="831668" y="2135320"/>
            <a:ext cx="44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2200" dirty="0"/>
          </a:p>
        </p:txBody>
      </p:sp>
      <p:sp>
        <p:nvSpPr>
          <p:cNvPr id="48" name="Shape 12">
            <a:extLst>
              <a:ext uri="{FF2B5EF4-FFF2-40B4-BE49-F238E27FC236}">
                <a16:creationId xmlns:a16="http://schemas.microsoft.com/office/drawing/2014/main" id="{2B6AC37F-B228-64F2-7359-660DDC3146F9}"/>
              </a:ext>
            </a:extLst>
          </p:cNvPr>
          <p:cNvSpPr/>
          <p:nvPr/>
        </p:nvSpPr>
        <p:spPr>
          <a:xfrm>
            <a:off x="457200" y="2717320"/>
            <a:ext cx="8229600" cy="5600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4459D98D-E17E-901A-A7CE-C1968020A5DE}"/>
              </a:ext>
            </a:extLst>
          </p:cNvPr>
          <p:cNvSpPr txBox="1"/>
          <p:nvPr/>
        </p:nvSpPr>
        <p:spPr>
          <a:xfrm>
            <a:off x="1737360" y="2762320"/>
            <a:ext cx="67665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Expand Reach in CA &amp; TX</a:t>
            </a:r>
            <a:endParaRPr lang="en-US" sz="1300" dirty="0"/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02007A4D-E47A-92D7-04D6-A9FB87D05203}"/>
              </a:ext>
            </a:extLst>
          </p:cNvPr>
          <p:cNvSpPr txBox="1"/>
          <p:nvPr/>
        </p:nvSpPr>
        <p:spPr>
          <a:xfrm>
            <a:off x="1737360" y="3022320"/>
            <a:ext cx="676656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Run targeted campaigns to win new customers there.</a:t>
            </a:r>
            <a:endParaRPr lang="en-US" sz="1100" dirty="0"/>
          </a:p>
        </p:txBody>
      </p:sp>
      <p:sp>
        <p:nvSpPr>
          <p:cNvPr id="54" name="Shape 13">
            <a:extLst>
              <a:ext uri="{FF2B5EF4-FFF2-40B4-BE49-F238E27FC236}">
                <a16:creationId xmlns:a16="http://schemas.microsoft.com/office/drawing/2014/main" id="{3BB57FAD-6352-E5DF-068F-24F1DAB6B5BB}"/>
              </a:ext>
            </a:extLst>
          </p:cNvPr>
          <p:cNvSpPr/>
          <p:nvPr/>
        </p:nvSpPr>
        <p:spPr>
          <a:xfrm>
            <a:off x="831668" y="2785320"/>
            <a:ext cx="440000" cy="440000"/>
          </a:xfrm>
          <a:prstGeom prst="roundRect">
            <a:avLst>
              <a:gd name="adj" fmla="val 1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14">
            <a:extLst>
              <a:ext uri="{FF2B5EF4-FFF2-40B4-BE49-F238E27FC236}">
                <a16:creationId xmlns:a16="http://schemas.microsoft.com/office/drawing/2014/main" id="{2776D9DC-4A59-3CD0-B9EE-9C0DC82E66CA}"/>
              </a:ext>
            </a:extLst>
          </p:cNvPr>
          <p:cNvSpPr txBox="1"/>
          <p:nvPr/>
        </p:nvSpPr>
        <p:spPr>
          <a:xfrm>
            <a:off x="831668" y="2785320"/>
            <a:ext cx="44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2B6AC37F-B228-64F2-7359-660DDC3146F9}"/>
              </a:ext>
            </a:extLst>
          </p:cNvPr>
          <p:cNvSpPr/>
          <p:nvPr/>
        </p:nvSpPr>
        <p:spPr>
          <a:xfrm>
            <a:off x="457200" y="3367320"/>
            <a:ext cx="8229600" cy="5600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3BB57FAD-6352-E5DF-068F-24F1DAB6B5BB}"/>
              </a:ext>
            </a:extLst>
          </p:cNvPr>
          <p:cNvSpPr/>
          <p:nvPr/>
        </p:nvSpPr>
        <p:spPr>
          <a:xfrm>
            <a:off x="831668" y="3435320"/>
            <a:ext cx="440000" cy="44000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14">
            <a:extLst>
              <a:ext uri="{FF2B5EF4-FFF2-40B4-BE49-F238E27FC236}">
                <a16:creationId xmlns:a16="http://schemas.microsoft.com/office/drawing/2014/main" id="{2776D9DC-4A59-3CD0-B9EE-9C0DC82E66CA}"/>
              </a:ext>
            </a:extLst>
          </p:cNvPr>
          <p:cNvSpPr txBox="1"/>
          <p:nvPr/>
        </p:nvSpPr>
        <p:spPr>
          <a:xfrm>
            <a:off x="831668" y="3435320"/>
            <a:ext cx="44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2200" dirty="0"/>
          </a:p>
        </p:txBody>
      </p:sp>
      <p:sp>
        <p:nvSpPr>
          <p:cNvPr id="7" name="Text 15">
            <a:extLst>
              <a:ext uri="{FF2B5EF4-FFF2-40B4-BE49-F238E27FC236}">
                <a16:creationId xmlns:a16="http://schemas.microsoft.com/office/drawing/2014/main" id="{4459D98D-E17E-901A-A7CE-C1968020A5DE}"/>
              </a:ext>
            </a:extLst>
          </p:cNvPr>
          <p:cNvSpPr txBox="1"/>
          <p:nvPr/>
        </p:nvSpPr>
        <p:spPr>
          <a:xfrm>
            <a:off x="1737360" y="3412320"/>
            <a:ext cx="67665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 on Low-Stock Alerts</a:t>
            </a:r>
            <a:endParaRPr lang="en-US" sz="1300" dirty="0"/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02007A4D-E47A-92D7-04D6-A9FB87D05203}"/>
              </a:ext>
            </a:extLst>
          </p:cNvPr>
          <p:cNvSpPr txBox="1"/>
          <p:nvPr/>
        </p:nvSpPr>
        <p:spPr>
          <a:xfrm>
            <a:off x="1737360" y="3672320"/>
            <a:ext cx="676656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Auto-reorder products that fall below 10 units.</a:t>
            </a:r>
            <a:endParaRPr lang="en-US" sz="1100" dirty="0"/>
          </a:p>
        </p:txBody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2B6AC37F-B228-64F2-7359-660DDC3146F9}"/>
              </a:ext>
            </a:extLst>
          </p:cNvPr>
          <p:cNvSpPr/>
          <p:nvPr/>
        </p:nvSpPr>
        <p:spPr>
          <a:xfrm>
            <a:off x="457200" y="4017320"/>
            <a:ext cx="8229600" cy="5600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3BB57FAD-6352-E5DF-068F-24F1DAB6B5BB}"/>
              </a:ext>
            </a:extLst>
          </p:cNvPr>
          <p:cNvSpPr/>
          <p:nvPr/>
        </p:nvSpPr>
        <p:spPr>
          <a:xfrm>
            <a:off x="831668" y="4085320"/>
            <a:ext cx="440000" cy="440000"/>
          </a:xfrm>
          <a:prstGeom prst="roundRect">
            <a:avLst>
              <a:gd name="adj" fmla="val 11429"/>
            </a:avLst>
          </a:prstGeom>
          <a:solidFill>
            <a:srgbClr val="DB2777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2776D9DC-4A59-3CD0-B9EE-9C0DC82E66CA}"/>
              </a:ext>
            </a:extLst>
          </p:cNvPr>
          <p:cNvSpPr txBox="1"/>
          <p:nvPr/>
        </p:nvSpPr>
        <p:spPr>
          <a:xfrm>
            <a:off x="831668" y="4085320"/>
            <a:ext cx="44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4459D98D-E17E-901A-A7CE-C1968020A5DE}"/>
              </a:ext>
            </a:extLst>
          </p:cNvPr>
          <p:cNvSpPr txBox="1"/>
          <p:nvPr/>
        </p:nvSpPr>
        <p:spPr>
          <a:xfrm>
            <a:off x="1737360" y="4062320"/>
            <a:ext cx="67665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Reward High-Value Customers</a:t>
            </a:r>
            <a:endParaRPr lang="en-US" sz="1300" dirty="0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02007A4D-E47A-92D7-04D6-A9FB87D05203}"/>
              </a:ext>
            </a:extLst>
          </p:cNvPr>
          <p:cNvSpPr txBox="1"/>
          <p:nvPr/>
        </p:nvSpPr>
        <p:spPr>
          <a:xfrm>
            <a:off x="1737360" y="4322320"/>
            <a:ext cx="676656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RFM segments for loyalty perks and win-back offers.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End-to-End Analytics Pipeline Successfully Executed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716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5" name="Image 0" descr="/home/claude/ic_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453896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Excel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Clean, validated CSVs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51760" y="11887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34640" y="13716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1" descr="/home/claude/ic_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36" y="145389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3464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SQL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834640" y="2194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Relational DB &amp; segments table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63440" y="11887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46320" y="13716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5" name="Image 2" descr="/home/claude/ic_pyth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145389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4632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Python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2194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EDA &amp; RFM segments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675120" y="11887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0" y="13716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3" descr="/home/claude/ic_powerb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296" y="1453896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Power BI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2194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Interactive 2-page dashboard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108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Thank You!</a:t>
            </a:r>
            <a:endParaRPr lang="en-US" sz="34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PRAVEEN T  |  Vinsup Skill Academy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933</Words>
  <Application>Microsoft Office PowerPoint</Application>
  <PresentationFormat>On-screen Show (16:9)</PresentationFormat>
  <Paragraphs>214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JetBrains Mono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Analytics — End-to-End Analytics Pipeline Project</dc:title>
  <dc:subject>PptxGenJS Presentation</dc:subject>
  <dc:creator>Rinshitha Shirin KV</dc:creator>
  <cp:lastModifiedBy>Praveen T</cp:lastModifiedBy>
  <cp:revision>14</cp:revision>
  <dcterms:created xsi:type="dcterms:W3CDTF">2026-10-02T16:42:33Z</dcterms:created>
  <dcterms:modified xsi:type="dcterms:W3CDTF">2026-10-15T09:51:31Z</dcterms:modified>
</cp:coreProperties>
</file>